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3"/>
    <p:sldId id="266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7" d="100"/>
          <a:sy n="67" d="100"/>
        </p:scale>
        <p:origin x="-1476" y="-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28819D-345F-4FFB-88DC-1059958F3502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2EFF32-68F3-4196-9BFA-ED245C36C173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Most anticonvulsant and antianxiety are Semi synthetic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2EFF32-68F3-4196-9BFA-ED245C36C173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D0DF5-110A-4CA5-A2D9-CA301FBA768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FA53E-7BCF-4404-B5FB-9D924DEAC82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D0DF5-110A-4CA5-A2D9-CA301FBA768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FA53E-7BCF-4404-B5FB-9D924DEAC82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D0DF5-110A-4CA5-A2D9-CA301FBA768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FA53E-7BCF-4404-B5FB-9D924DEAC82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D0DF5-110A-4CA5-A2D9-CA301FBA768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FA53E-7BCF-4404-B5FB-9D924DEAC82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D0DF5-110A-4CA5-A2D9-CA301FBA768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FA53E-7BCF-4404-B5FB-9D924DEAC82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D0DF5-110A-4CA5-A2D9-CA301FBA768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FA53E-7BCF-4404-B5FB-9D924DEAC82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D0DF5-110A-4CA5-A2D9-CA301FBA768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FA53E-7BCF-4404-B5FB-9D924DEAC82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D0DF5-110A-4CA5-A2D9-CA301FBA768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FA53E-7BCF-4404-B5FB-9D924DEAC82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D0DF5-110A-4CA5-A2D9-CA301FBA768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FA53E-7BCF-4404-B5FB-9D924DEAC82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D0DF5-110A-4CA5-A2D9-CA301FBA768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FA53E-7BCF-4404-B5FB-9D924DEAC82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D0DF5-110A-4CA5-A2D9-CA301FBA768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FA53E-7BCF-4404-B5FB-9D924DEAC82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ED0DF5-110A-4CA5-A2D9-CA301FBA768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3FA53E-7BCF-4404-B5FB-9D924DEAC826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SOURCES OF DRUGS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DR ADEGBOYE S. O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MAJOR SOURCES OF DRUGS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Font typeface="Wingdings" panose="05000000000000000000" charset="0"/>
              <a:buChar char="Ø"/>
            </a:pPr>
            <a:r>
              <a:rPr lang="en-US" dirty="0" smtClean="0"/>
              <a:t>PLANTS</a:t>
            </a:r>
            <a:endParaRPr lang="en-US" dirty="0" smtClean="0"/>
          </a:p>
          <a:p>
            <a:pPr algn="just">
              <a:buFont typeface="Wingdings" panose="05000000000000000000" charset="0"/>
              <a:buChar char="Ø"/>
            </a:pPr>
            <a:r>
              <a:rPr lang="en-US" dirty="0" smtClean="0"/>
              <a:t>ANIMALS</a:t>
            </a:r>
            <a:endParaRPr lang="en-US" dirty="0" smtClean="0"/>
          </a:p>
          <a:p>
            <a:pPr algn="just">
              <a:buFont typeface="Wingdings" panose="05000000000000000000" charset="0"/>
              <a:buChar char="Ø"/>
            </a:pPr>
            <a:r>
              <a:rPr lang="en-US" dirty="0" smtClean="0"/>
              <a:t>MICROBIOLOGICAL </a:t>
            </a:r>
            <a:endParaRPr lang="en-US" dirty="0" smtClean="0"/>
          </a:p>
          <a:p>
            <a:pPr algn="just">
              <a:buFont typeface="Wingdings" panose="05000000000000000000" charset="0"/>
              <a:buChar char="Ø"/>
            </a:pPr>
            <a:r>
              <a:rPr lang="en-US" dirty="0" smtClean="0"/>
              <a:t>MINERALS/ EARTH</a:t>
            </a:r>
            <a:endParaRPr lang="en-US" dirty="0" smtClean="0"/>
          </a:p>
          <a:p>
            <a:pPr algn="just">
              <a:buFont typeface="Wingdings" panose="05000000000000000000" charset="0"/>
              <a:buChar char="Ø"/>
            </a:pPr>
            <a:r>
              <a:rPr lang="en-US" dirty="0" smtClean="0"/>
              <a:t>SYNTHETIC/SEMISYNTHETIC</a:t>
            </a:r>
            <a:endParaRPr lang="en-US" dirty="0" smtClean="0"/>
          </a:p>
          <a:p>
            <a:pPr algn="just">
              <a:buFont typeface="Wingdings" panose="05000000000000000000" charset="0"/>
              <a:buChar char="Ø"/>
            </a:pPr>
            <a:r>
              <a:rPr lang="en-US" dirty="0" smtClean="0"/>
              <a:t>RECOMBINANT DNA TECHNOLOGY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PLANT SOURCES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5000"/>
          </a:bodyPr>
          <a:lstStyle/>
          <a:p>
            <a:pPr marL="0" indent="0" algn="just">
              <a:buNone/>
            </a:pPr>
            <a:r>
              <a:rPr lang="en-US" dirty="0" smtClean="0"/>
              <a:t>This is the oldest source of drugs. In the </a:t>
            </a:r>
            <a:r>
              <a:rPr lang="en-US" dirty="0" err="1" smtClean="0"/>
              <a:t>olding</a:t>
            </a:r>
            <a:r>
              <a:rPr lang="en-US" dirty="0" smtClean="0"/>
              <a:t> days virtually all drugs are gotten from plants and all parts of plant have been shown to contain one drug/s.</a:t>
            </a:r>
            <a:endParaRPr lang="en-US" dirty="0" smtClean="0"/>
          </a:p>
          <a:p>
            <a:pPr marL="0" indent="0" algn="just">
              <a:buNone/>
            </a:pPr>
            <a:r>
              <a:rPr lang="en-US" dirty="0" smtClean="0"/>
              <a:t>For instance;</a:t>
            </a:r>
            <a:endParaRPr lang="en-US" dirty="0" smtClean="0"/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r>
              <a:rPr lang="en-US" dirty="0" smtClean="0"/>
              <a:t>Leaves</a:t>
            </a:r>
            <a:endParaRPr lang="en-US" dirty="0" smtClean="0"/>
          </a:p>
          <a:p>
            <a:pPr marL="0" indent="0" algn="just">
              <a:buNone/>
            </a:pPr>
            <a:r>
              <a:rPr lang="en-US" dirty="0" smtClean="0"/>
              <a:t>Digitalis </a:t>
            </a:r>
            <a:r>
              <a:rPr lang="en-US" dirty="0" err="1" smtClean="0"/>
              <a:t>purpurea</a:t>
            </a:r>
            <a:r>
              <a:rPr lang="en-US" dirty="0" smtClean="0"/>
              <a:t> – </a:t>
            </a:r>
            <a:r>
              <a:rPr lang="en-US" dirty="0" err="1" smtClean="0"/>
              <a:t>digitoxin</a:t>
            </a:r>
            <a:r>
              <a:rPr lang="en-US" dirty="0" smtClean="0"/>
              <a:t>/digoxin (cardiac glycosides)</a:t>
            </a:r>
            <a:endParaRPr lang="en-US" dirty="0" smtClean="0"/>
          </a:p>
          <a:p>
            <a:pPr marL="0" indent="0" algn="just">
              <a:buNone/>
            </a:pPr>
            <a:r>
              <a:rPr lang="en-US" dirty="0" smtClean="0"/>
              <a:t>Eucalyptus Oil for cough syrup components</a:t>
            </a:r>
            <a:endParaRPr lang="en-US" dirty="0" smtClean="0"/>
          </a:p>
          <a:p>
            <a:pPr marL="0" indent="0" algn="just">
              <a:buNone/>
            </a:pPr>
            <a:r>
              <a:rPr lang="en-US" dirty="0" smtClean="0"/>
              <a:t>Tobacco – Nicotine</a:t>
            </a:r>
            <a:endParaRPr lang="en-US" dirty="0" smtClean="0"/>
          </a:p>
          <a:p>
            <a:pPr marL="0" indent="0" algn="just">
              <a:buNone/>
            </a:pPr>
            <a:r>
              <a:rPr lang="en-US" dirty="0" err="1" smtClean="0"/>
              <a:t>Atropa</a:t>
            </a:r>
            <a:r>
              <a:rPr lang="en-US" dirty="0" smtClean="0"/>
              <a:t> Belladonna -Atropine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5000" lnSpcReduction="20000"/>
          </a:bodyPr>
          <a:lstStyle/>
          <a:p>
            <a:pPr marL="0" indent="0" algn="just">
              <a:buNone/>
            </a:pPr>
            <a:r>
              <a:rPr lang="en-US" dirty="0" smtClean="0"/>
              <a:t>Flowers</a:t>
            </a:r>
            <a:endParaRPr lang="en-US" dirty="0" smtClean="0"/>
          </a:p>
          <a:p>
            <a:pPr marL="0" indent="0" algn="just">
              <a:buNone/>
            </a:pPr>
            <a:r>
              <a:rPr lang="en-US" dirty="0" smtClean="0"/>
              <a:t>Poppy </a:t>
            </a:r>
            <a:r>
              <a:rPr lang="en-US" dirty="0" err="1" smtClean="0"/>
              <a:t>papavar</a:t>
            </a:r>
            <a:r>
              <a:rPr lang="en-US" dirty="0" smtClean="0"/>
              <a:t> </a:t>
            </a:r>
            <a:r>
              <a:rPr lang="en-US" dirty="0" err="1" smtClean="0"/>
              <a:t>Somniferum</a:t>
            </a:r>
            <a:r>
              <a:rPr lang="en-US" dirty="0" smtClean="0"/>
              <a:t> –Morphine (</a:t>
            </a:r>
            <a:r>
              <a:rPr lang="en-US" dirty="0" err="1" smtClean="0"/>
              <a:t>Opiod</a:t>
            </a:r>
            <a:r>
              <a:rPr lang="en-US" dirty="0" smtClean="0"/>
              <a:t>)</a:t>
            </a:r>
            <a:endParaRPr lang="en-US" dirty="0" smtClean="0"/>
          </a:p>
          <a:p>
            <a:pPr marL="0" indent="0" algn="just">
              <a:buNone/>
            </a:pPr>
            <a:r>
              <a:rPr lang="en-US" dirty="0" err="1" smtClean="0"/>
              <a:t>Vinca</a:t>
            </a:r>
            <a:r>
              <a:rPr lang="en-US" dirty="0" smtClean="0"/>
              <a:t> </a:t>
            </a:r>
            <a:r>
              <a:rPr lang="en-US" dirty="0" err="1" smtClean="0"/>
              <a:t>Rosea</a:t>
            </a:r>
            <a:r>
              <a:rPr lang="en-US" dirty="0" smtClean="0"/>
              <a:t> – </a:t>
            </a:r>
            <a:r>
              <a:rPr lang="en-US" dirty="0" err="1" smtClean="0"/>
              <a:t>Vincristin</a:t>
            </a:r>
            <a:r>
              <a:rPr lang="en-US" dirty="0" smtClean="0"/>
              <a:t> and Vinblastine</a:t>
            </a:r>
            <a:endParaRPr lang="en-US" dirty="0" smtClean="0"/>
          </a:p>
          <a:p>
            <a:pPr marL="0" indent="0" algn="just">
              <a:buNone/>
            </a:pPr>
            <a:r>
              <a:rPr lang="en-US" dirty="0" smtClean="0"/>
              <a:t>Rose </a:t>
            </a:r>
            <a:r>
              <a:rPr lang="en-US" dirty="0" err="1" smtClean="0"/>
              <a:t>Rose</a:t>
            </a:r>
            <a:r>
              <a:rPr lang="en-US" dirty="0" smtClean="0"/>
              <a:t> water for Tonicity</a:t>
            </a:r>
            <a:endParaRPr lang="en-US" dirty="0" smtClean="0"/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r>
              <a:rPr lang="en-US" dirty="0" smtClean="0"/>
              <a:t>FRUITS</a:t>
            </a:r>
            <a:endParaRPr lang="en-US" dirty="0" smtClean="0"/>
          </a:p>
          <a:p>
            <a:pPr marL="0" indent="0" algn="just">
              <a:buNone/>
            </a:pPr>
            <a:r>
              <a:rPr lang="en-US" dirty="0" err="1" smtClean="0"/>
              <a:t>Senna</a:t>
            </a:r>
            <a:r>
              <a:rPr lang="en-US" dirty="0" smtClean="0"/>
              <a:t> pods- </a:t>
            </a:r>
            <a:r>
              <a:rPr lang="en-US" dirty="0" err="1" smtClean="0"/>
              <a:t>Anthracine</a:t>
            </a:r>
            <a:r>
              <a:rPr lang="en-US" dirty="0" smtClean="0"/>
              <a:t> use as purgatives </a:t>
            </a:r>
            <a:endParaRPr lang="en-US" dirty="0" smtClean="0"/>
          </a:p>
          <a:p>
            <a:pPr marL="0" indent="0" algn="just">
              <a:buNone/>
            </a:pPr>
            <a:r>
              <a:rPr lang="en-US" dirty="0" err="1" smtClean="0"/>
              <a:t>Calabar</a:t>
            </a:r>
            <a:r>
              <a:rPr lang="en-US" dirty="0" smtClean="0"/>
              <a:t> Beans- </a:t>
            </a:r>
            <a:r>
              <a:rPr lang="en-US" dirty="0" err="1" smtClean="0"/>
              <a:t>Physostigmine</a:t>
            </a:r>
            <a:r>
              <a:rPr lang="en-US" dirty="0" smtClean="0"/>
              <a:t> for </a:t>
            </a:r>
            <a:r>
              <a:rPr lang="en-US" dirty="0" err="1" smtClean="0"/>
              <a:t>cholinimemetic</a:t>
            </a:r>
            <a:r>
              <a:rPr lang="en-US" dirty="0" smtClean="0"/>
              <a:t> agent</a:t>
            </a:r>
            <a:endParaRPr lang="en-US" dirty="0" smtClean="0"/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r>
              <a:rPr lang="en-US" dirty="0" smtClean="0"/>
              <a:t>SEEDS</a:t>
            </a:r>
            <a:endParaRPr lang="en-US" dirty="0" smtClean="0"/>
          </a:p>
          <a:p>
            <a:pPr marL="0" indent="0" algn="just">
              <a:buNone/>
            </a:pPr>
            <a:r>
              <a:rPr lang="en-US" dirty="0" err="1" smtClean="0"/>
              <a:t>Nux</a:t>
            </a:r>
            <a:r>
              <a:rPr lang="en-US" dirty="0" smtClean="0"/>
              <a:t> vomica – </a:t>
            </a:r>
            <a:r>
              <a:rPr lang="en-US" dirty="0" err="1" smtClean="0"/>
              <a:t>Strychinine</a:t>
            </a:r>
            <a:r>
              <a:rPr lang="en-US" dirty="0" smtClean="0"/>
              <a:t> CNS stimulant</a:t>
            </a:r>
            <a:endParaRPr lang="en-US" dirty="0" smtClean="0"/>
          </a:p>
          <a:p>
            <a:pPr marL="0" indent="0" algn="just">
              <a:buNone/>
            </a:pPr>
            <a:r>
              <a:rPr lang="en-US" dirty="0" smtClean="0"/>
              <a:t>Castor Oil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7500" lnSpcReduction="20000"/>
          </a:bodyPr>
          <a:lstStyle/>
          <a:p>
            <a:pPr marL="0" indent="0" algn="just">
              <a:buNone/>
            </a:pPr>
            <a:r>
              <a:rPr lang="en-US" dirty="0" smtClean="0"/>
              <a:t>ROOT</a:t>
            </a:r>
            <a:endParaRPr lang="en-US" dirty="0" smtClean="0"/>
          </a:p>
          <a:p>
            <a:pPr marL="0" indent="0" algn="just">
              <a:buNone/>
            </a:pPr>
            <a:r>
              <a:rPr lang="en-US" dirty="0" err="1" smtClean="0"/>
              <a:t>Ipecacuanha</a:t>
            </a:r>
            <a:r>
              <a:rPr lang="en-US" dirty="0" smtClean="0"/>
              <a:t>- Emetine to induce vomiting in accidental poisoning and also for </a:t>
            </a:r>
            <a:r>
              <a:rPr lang="en-US" dirty="0" err="1" smtClean="0"/>
              <a:t>amoebicidal</a:t>
            </a:r>
            <a:endParaRPr lang="en-US" dirty="0" smtClean="0"/>
          </a:p>
          <a:p>
            <a:pPr marL="0" indent="0" algn="just">
              <a:buNone/>
            </a:pPr>
            <a:r>
              <a:rPr lang="en-US" dirty="0" err="1" smtClean="0"/>
              <a:t>Rauwoplfia</a:t>
            </a:r>
            <a:r>
              <a:rPr lang="en-US" dirty="0" smtClean="0"/>
              <a:t> serpentine- Reserpine for hypertension</a:t>
            </a:r>
            <a:endParaRPr lang="en-US" dirty="0" smtClean="0"/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r>
              <a:rPr lang="en-US" dirty="0" smtClean="0"/>
              <a:t>BACK</a:t>
            </a:r>
            <a:endParaRPr lang="en-US" dirty="0" smtClean="0"/>
          </a:p>
          <a:p>
            <a:pPr marL="0" indent="0" algn="just">
              <a:buNone/>
            </a:pPr>
            <a:r>
              <a:rPr lang="en-US" dirty="0" smtClean="0"/>
              <a:t>Cinchona bark- quinine and quinidine (</a:t>
            </a:r>
            <a:r>
              <a:rPr lang="en-US" dirty="0" err="1" smtClean="0"/>
              <a:t>Antimalaria</a:t>
            </a:r>
            <a:r>
              <a:rPr lang="en-US" dirty="0" smtClean="0"/>
              <a:t> and </a:t>
            </a:r>
            <a:r>
              <a:rPr lang="en-US" dirty="0" err="1" smtClean="0"/>
              <a:t>Antiarrythmia</a:t>
            </a:r>
            <a:r>
              <a:rPr lang="en-US" dirty="0" smtClean="0"/>
              <a:t>)</a:t>
            </a:r>
            <a:endParaRPr lang="en-US" dirty="0" smtClean="0"/>
          </a:p>
          <a:p>
            <a:pPr marL="0" indent="0" algn="just">
              <a:buNone/>
            </a:pPr>
            <a:r>
              <a:rPr lang="en-US" dirty="0" err="1" smtClean="0"/>
              <a:t>Atropa</a:t>
            </a:r>
            <a:r>
              <a:rPr lang="en-US" dirty="0" smtClean="0"/>
              <a:t> belladonna- Atropine (anticholinergic)</a:t>
            </a:r>
            <a:endParaRPr lang="en-US" dirty="0" smtClean="0"/>
          </a:p>
          <a:p>
            <a:pPr marL="0" indent="0" algn="just">
              <a:buNone/>
            </a:pPr>
            <a:r>
              <a:rPr lang="en-US" dirty="0" err="1" smtClean="0"/>
              <a:t>Hyoscyamus</a:t>
            </a:r>
            <a:r>
              <a:rPr lang="en-US" dirty="0" smtClean="0"/>
              <a:t> Niger- </a:t>
            </a:r>
            <a:r>
              <a:rPr lang="en-US" dirty="0" err="1" smtClean="0"/>
              <a:t>Hyoscine</a:t>
            </a:r>
            <a:r>
              <a:rPr lang="en-US" dirty="0" smtClean="0"/>
              <a:t> also anticholinergic</a:t>
            </a:r>
            <a:endParaRPr lang="en-US" dirty="0" smtClean="0"/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r>
              <a:rPr lang="en-US" dirty="0" smtClean="0"/>
              <a:t>STEM</a:t>
            </a:r>
            <a:endParaRPr lang="en-US" dirty="0" smtClean="0"/>
          </a:p>
          <a:p>
            <a:pPr marL="0" indent="0" algn="just">
              <a:buNone/>
            </a:pPr>
            <a:r>
              <a:rPr lang="en-US" dirty="0" err="1" smtClean="0"/>
              <a:t>Chondrodendron</a:t>
            </a:r>
            <a:r>
              <a:rPr lang="en-US" dirty="0" smtClean="0"/>
              <a:t> </a:t>
            </a:r>
            <a:r>
              <a:rPr lang="en-US" dirty="0" err="1" smtClean="0"/>
              <a:t>tomentosum</a:t>
            </a:r>
            <a:r>
              <a:rPr lang="en-US" dirty="0" smtClean="0"/>
              <a:t>- </a:t>
            </a:r>
            <a:r>
              <a:rPr lang="en-US" dirty="0" err="1" smtClean="0"/>
              <a:t>Tubocurarine</a:t>
            </a:r>
            <a:r>
              <a:rPr lang="en-US" dirty="0" smtClean="0"/>
              <a:t> ( Skeletal muscle relaxant for general </a:t>
            </a:r>
            <a:r>
              <a:rPr lang="en-US" dirty="0" err="1" smtClean="0"/>
              <a:t>anaesthesia</a:t>
            </a:r>
            <a:r>
              <a:rPr lang="en-US" dirty="0" smtClean="0"/>
              <a:t>)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ANIMAL SOURCES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/>
          </a:bodyPr>
          <a:lstStyle/>
          <a:p>
            <a:pPr marL="0" indent="0">
              <a:buNone/>
            </a:pPr>
            <a:r>
              <a:rPr lang="en-US" dirty="0" smtClean="0"/>
              <a:t>Pancreas – Insulin for Diabetes</a:t>
            </a: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Pregnant Woman Urine( human Chorionic </a:t>
            </a:r>
            <a:r>
              <a:rPr lang="en-US" dirty="0" err="1" smtClean="0"/>
              <a:t>Gonadotrophine</a:t>
            </a:r>
            <a:r>
              <a:rPr lang="en-US" dirty="0"/>
              <a:t> </a:t>
            </a:r>
            <a:r>
              <a:rPr lang="en-US" dirty="0" smtClean="0"/>
              <a:t>HCG) for Infertility</a:t>
            </a: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Cod liver Oil used for </a:t>
            </a:r>
            <a:r>
              <a:rPr lang="en-US" dirty="0" err="1"/>
              <a:t>V</a:t>
            </a:r>
            <a:r>
              <a:rPr lang="en-US" dirty="0" err="1" smtClean="0"/>
              <a:t>it</a:t>
            </a:r>
            <a:r>
              <a:rPr lang="en-US" dirty="0" smtClean="0"/>
              <a:t> A&amp;D</a:t>
            </a: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Anterior Pituitary- Pituitary </a:t>
            </a:r>
            <a:r>
              <a:rPr lang="en-US" dirty="0" err="1" smtClean="0"/>
              <a:t>gonadotrophins</a:t>
            </a:r>
            <a:r>
              <a:rPr lang="en-US" dirty="0" smtClean="0"/>
              <a:t> for treatment of infertility</a:t>
            </a: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Blood/Plasma- Vaccines</a:t>
            </a: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Stomach Tissues – contains Pepsin and </a:t>
            </a:r>
            <a:r>
              <a:rPr lang="en-US" dirty="0" err="1" smtClean="0"/>
              <a:t>Trypsins</a:t>
            </a:r>
            <a:r>
              <a:rPr lang="en-US" dirty="0" smtClean="0"/>
              <a:t> for digestive disease in the past. Better drugs available now</a:t>
            </a:r>
            <a:endParaRPr lang="en-US" dirty="0" smtClean="0"/>
          </a:p>
          <a:p>
            <a:pPr marL="0" indent="0">
              <a:buNone/>
            </a:pPr>
            <a:endParaRPr lang="en-US" dirty="0" smtClean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MICROBIOLOGICAL SOURCES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dirty="0" err="1" smtClean="0"/>
              <a:t>Penicillium</a:t>
            </a:r>
            <a:r>
              <a:rPr lang="en-US" dirty="0" smtClean="0"/>
              <a:t> </a:t>
            </a:r>
            <a:r>
              <a:rPr lang="en-US" dirty="0" err="1" smtClean="0"/>
              <a:t>Notatum</a:t>
            </a:r>
            <a:r>
              <a:rPr lang="en-US" dirty="0" smtClean="0"/>
              <a:t> – Fungus (</a:t>
            </a:r>
            <a:r>
              <a:rPr lang="en-US" dirty="0" err="1" smtClean="0"/>
              <a:t>Penicilline</a:t>
            </a:r>
            <a:r>
              <a:rPr lang="en-US" dirty="0" smtClean="0"/>
              <a:t>)</a:t>
            </a:r>
            <a:endParaRPr lang="en-US" dirty="0" smtClean="0"/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r>
              <a:rPr lang="en-US" dirty="0" err="1" smtClean="0"/>
              <a:t>Actinobacteria</a:t>
            </a:r>
            <a:r>
              <a:rPr lang="en-US" dirty="0" smtClean="0"/>
              <a:t> – Streptomycin</a:t>
            </a:r>
            <a:endParaRPr lang="en-US" dirty="0" smtClean="0"/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r>
              <a:rPr lang="en-US" dirty="0" err="1" smtClean="0"/>
              <a:t>Aminoglycocides</a:t>
            </a:r>
            <a:r>
              <a:rPr lang="en-US" dirty="0" smtClean="0"/>
              <a:t> –Gentamicin</a:t>
            </a:r>
            <a:endParaRPr lang="en-US" dirty="0" smtClean="0"/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r>
              <a:rPr lang="en-US" dirty="0" err="1" smtClean="0"/>
              <a:t>Streptomycis</a:t>
            </a:r>
            <a:r>
              <a:rPr lang="en-US" dirty="0" smtClean="0"/>
              <a:t> and </a:t>
            </a:r>
            <a:r>
              <a:rPr lang="en-US" dirty="0" err="1" smtClean="0"/>
              <a:t>Micromonosporas</a:t>
            </a:r>
            <a:r>
              <a:rPr lang="en-US" dirty="0" smtClean="0"/>
              <a:t>-Tobramycin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MINERAL/EARTH SOURCES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0000" lnSpcReduction="20000"/>
          </a:bodyPr>
          <a:lstStyle/>
          <a:p>
            <a:pPr marL="0" indent="0" algn="just">
              <a:buNone/>
            </a:pPr>
            <a:r>
              <a:rPr lang="en-US" dirty="0" err="1" smtClean="0"/>
              <a:t>Metalic</a:t>
            </a:r>
            <a:r>
              <a:rPr lang="en-US" dirty="0" smtClean="0"/>
              <a:t> and Non metallic;</a:t>
            </a:r>
            <a:endParaRPr lang="en-US" dirty="0" smtClean="0"/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r>
              <a:rPr lang="en-US" dirty="0" smtClean="0"/>
              <a:t>Iron – Fe deficiency </a:t>
            </a:r>
            <a:r>
              <a:rPr lang="en-US" dirty="0" err="1" smtClean="0"/>
              <a:t>anaemia</a:t>
            </a:r>
            <a:endParaRPr lang="en-US" dirty="0" err="1" smtClean="0"/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r>
              <a:rPr lang="en-US" dirty="0" smtClean="0"/>
              <a:t>Mercurial salts- Syphilis</a:t>
            </a:r>
            <a:endParaRPr lang="en-US" dirty="0" smtClean="0"/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r>
              <a:rPr lang="en-US" dirty="0" smtClean="0"/>
              <a:t>Zinc- supplement, Zinc oxide for wound and skin treatment</a:t>
            </a:r>
            <a:endParaRPr lang="en-US" dirty="0" smtClean="0"/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r>
              <a:rPr lang="en-US" dirty="0" smtClean="0"/>
              <a:t>Gold salt in treatment of Rheumatoid </a:t>
            </a:r>
            <a:r>
              <a:rPr lang="en-US" dirty="0" err="1" smtClean="0"/>
              <a:t>arthtritis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SYNTHETIC/ SEMISYNTHETIC SOURCES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2500"/>
          </a:bodyPr>
          <a:lstStyle/>
          <a:p>
            <a:pPr marL="0" indent="0" algn="just">
              <a:buNone/>
            </a:pPr>
            <a:r>
              <a:rPr lang="en-US" dirty="0" smtClean="0"/>
              <a:t>Synthetic </a:t>
            </a:r>
            <a:endParaRPr lang="en-US" dirty="0" smtClean="0"/>
          </a:p>
          <a:p>
            <a:pPr marL="0" indent="0" algn="just">
              <a:buNone/>
            </a:pPr>
            <a:r>
              <a:rPr lang="en-US" dirty="0" smtClean="0"/>
              <a:t>When the nucleus of the drug from natural source as well as its chemical structure is altered, we call it SYNTHETIC. </a:t>
            </a:r>
            <a:r>
              <a:rPr lang="en-US" dirty="0" err="1" smtClean="0"/>
              <a:t>E.g</a:t>
            </a:r>
            <a:r>
              <a:rPr lang="en-US" dirty="0" smtClean="0"/>
              <a:t> Emetine Bismuth Iodide.</a:t>
            </a:r>
            <a:endParaRPr lang="en-US" dirty="0" smtClean="0"/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r>
              <a:rPr lang="en-US" dirty="0" smtClean="0"/>
              <a:t>Semi-Synthetic </a:t>
            </a:r>
            <a:endParaRPr lang="en-US" dirty="0" smtClean="0"/>
          </a:p>
          <a:p>
            <a:pPr marL="0" indent="0" algn="just">
              <a:buNone/>
            </a:pPr>
            <a:r>
              <a:rPr lang="en-US" dirty="0" smtClean="0"/>
              <a:t>When the nucleus of drug obtained from natural source is retained but the chemical structure is altered we call it semi- synthetic. </a:t>
            </a:r>
            <a:r>
              <a:rPr lang="en-US" dirty="0" err="1" smtClean="0"/>
              <a:t>E.g</a:t>
            </a:r>
            <a:r>
              <a:rPr lang="en-US" dirty="0" smtClean="0"/>
              <a:t> </a:t>
            </a:r>
            <a:r>
              <a:rPr lang="en-US" dirty="0" err="1" smtClean="0"/>
              <a:t>Apomorphine</a:t>
            </a:r>
            <a:r>
              <a:rPr lang="en-US" dirty="0" smtClean="0"/>
              <a:t>, </a:t>
            </a:r>
            <a:r>
              <a:rPr lang="en-US" dirty="0" err="1" smtClean="0"/>
              <a:t>ethinyl</a:t>
            </a:r>
            <a:r>
              <a:rPr lang="en-US" dirty="0" smtClean="0"/>
              <a:t> estradiol, Ampicillin, methyl testosterone, </a:t>
            </a:r>
            <a:r>
              <a:rPr lang="en-US" dirty="0" err="1" smtClean="0"/>
              <a:t>diactyl</a:t>
            </a:r>
            <a:r>
              <a:rPr lang="en-US" dirty="0" smtClean="0"/>
              <a:t> morphine.</a:t>
            </a:r>
            <a:endParaRPr lang="en-US" dirty="0" smtClean="0"/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RECOMBINANT DNA TECHNOLOGY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0000" lnSpcReduction="20000"/>
          </a:bodyPr>
          <a:lstStyle/>
          <a:p>
            <a:pPr marL="0" indent="0" algn="just">
              <a:buNone/>
            </a:pPr>
            <a:r>
              <a:rPr lang="en-US" dirty="0" smtClean="0"/>
              <a:t>Recombinant DNA technology involves change of DNA by enzymes restriction endonucleases.</a:t>
            </a:r>
            <a:endParaRPr lang="en-US" dirty="0" smtClean="0"/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r>
              <a:rPr lang="en-US" dirty="0" smtClean="0"/>
              <a:t>The desired gene is coupled to rapidly replicating DNA( viral, bacterial or Plasmid)</a:t>
            </a:r>
            <a:endParaRPr lang="en-US" dirty="0" smtClean="0"/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r>
              <a:rPr lang="en-US" dirty="0" smtClean="0"/>
              <a:t>The new genetic combination is inserted into the bacterial culture which allow production of vast amount of genetic material.</a:t>
            </a:r>
            <a:endParaRPr lang="en-US" dirty="0" smtClean="0"/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r>
              <a:rPr lang="en-US" dirty="0" smtClean="0"/>
              <a:t>Advantage </a:t>
            </a:r>
            <a:endParaRPr lang="en-US" dirty="0" smtClean="0"/>
          </a:p>
          <a:p>
            <a:pPr marL="0" indent="0" algn="just">
              <a:buNone/>
            </a:pPr>
            <a:r>
              <a:rPr lang="en-US" dirty="0" smtClean="0"/>
              <a:t>Huge amount of drug can be produced</a:t>
            </a:r>
            <a:endParaRPr lang="en-US" dirty="0" smtClean="0"/>
          </a:p>
          <a:p>
            <a:pPr marL="0" indent="0" algn="just">
              <a:buNone/>
            </a:pPr>
            <a:r>
              <a:rPr lang="en-US" dirty="0" smtClean="0"/>
              <a:t>Drug can be obtained in pure form</a:t>
            </a:r>
            <a:endParaRPr lang="en-US" dirty="0" smtClean="0"/>
          </a:p>
          <a:p>
            <a:pPr marL="0" indent="0" algn="just">
              <a:buNone/>
            </a:pPr>
            <a:r>
              <a:rPr lang="en-US" dirty="0" smtClean="0"/>
              <a:t>It is less antigenic</a:t>
            </a:r>
            <a:endParaRPr lang="en-US" dirty="0" smtClean="0"/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r>
              <a:rPr lang="en-US" dirty="0" smtClean="0"/>
              <a:t>Disadvantage</a:t>
            </a:r>
            <a:endParaRPr lang="en-US" dirty="0" smtClean="0"/>
          </a:p>
          <a:p>
            <a:pPr marL="0" indent="0" algn="just">
              <a:buNone/>
            </a:pPr>
            <a:r>
              <a:rPr lang="en-US" dirty="0" smtClean="0"/>
              <a:t>Well  </a:t>
            </a:r>
            <a:r>
              <a:rPr lang="en-US" dirty="0" err="1" smtClean="0"/>
              <a:t>eqiupped</a:t>
            </a:r>
            <a:r>
              <a:rPr lang="en-US" dirty="0" smtClean="0"/>
              <a:t> lab is required </a:t>
            </a:r>
            <a:endParaRPr lang="en-US" dirty="0" smtClean="0"/>
          </a:p>
          <a:p>
            <a:pPr marL="0" indent="0" algn="just">
              <a:buNone/>
            </a:pPr>
            <a:r>
              <a:rPr lang="en-US" dirty="0" smtClean="0"/>
              <a:t>Highly trained  staff is required</a:t>
            </a:r>
            <a:endParaRPr lang="en-US" dirty="0" smtClean="0"/>
          </a:p>
          <a:p>
            <a:pPr marL="0" indent="0" algn="just">
              <a:buNone/>
            </a:pPr>
            <a:r>
              <a:rPr lang="en-US" dirty="0" smtClean="0"/>
              <a:t>It is a complex and complicated technique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/>
              <a:t>     THANK YOU</a:t>
            </a: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                           ??????????????????????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2890</Words>
  <Application>WPS Presentation</Application>
  <PresentationFormat>On-screen Show (4:3)</PresentationFormat>
  <Paragraphs>122</Paragraphs>
  <Slides>11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9" baseType="lpstr">
      <vt:lpstr>Arial</vt:lpstr>
      <vt:lpstr>SimSun</vt:lpstr>
      <vt:lpstr>Wingdings</vt:lpstr>
      <vt:lpstr>Calibri</vt:lpstr>
      <vt:lpstr>Microsoft YaHei</vt:lpstr>
      <vt:lpstr>Arial Unicode MS</vt:lpstr>
      <vt:lpstr>Wingdings</vt:lpstr>
      <vt:lpstr>Office Theme</vt:lpstr>
      <vt:lpstr>SOURCES OF DRUGS</vt:lpstr>
      <vt:lpstr>Major sources of Drugs</vt:lpstr>
      <vt:lpstr>PLANT SOURCES</vt:lpstr>
      <vt:lpstr>PowerPoint 演示文稿</vt:lpstr>
      <vt:lpstr>PowerPoint 演示文稿</vt:lpstr>
      <vt:lpstr>ANIMAL SOURCES</vt:lpstr>
      <vt:lpstr>MICROBIOLOGICAL SOURCES</vt:lpstr>
      <vt:lpstr>MINERAL/EARTH SOURCES</vt:lpstr>
      <vt:lpstr>SYNTHETIC/ SEMISYNTHETIC SOURCES</vt:lpstr>
      <vt:lpstr>RECOMBINANT DNA TECHNOLOGY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SOURCES OF DRUGS</dc:title>
  <dc:creator>User</dc:creator>
  <cp:lastModifiedBy>User</cp:lastModifiedBy>
  <cp:revision>10</cp:revision>
  <dcterms:created xsi:type="dcterms:W3CDTF">2026-01-14T18:24:00Z</dcterms:created>
  <dcterms:modified xsi:type="dcterms:W3CDTF">2026-01-17T02:18:41Z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8175A5B8F92C4D419648C25F0E05C4DD_12</vt:lpwstr>
  </property>
  <property fmtid="{D5CDD505-2E9C-101B-9397-08002B2CF9AE}" pid="3" name="KSOProductBuildVer">
    <vt:lpwstr>1033-12.2.0.23196</vt:lpwstr>
  </property>
</Properties>
</file>